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/>
  <p:notesSz cx="6858000" cy="12191365"/>
  <p:embeddedFontLst>
    <p:embeddedFont>
      <p:font typeface="Nunito SemiBold" pitchFamily="34" charset="0"/>
      <p:bold r:id="rId15"/>
    </p:embeddedFont>
    <p:embeddedFont>
      <p:font typeface="Nunito SemiBold" pitchFamily="34" charset="-122"/>
      <p:bold r:id="rId16"/>
    </p:embeddedFont>
    <p:embeddedFont>
      <p:font typeface="Nunito SemiBold" pitchFamily="34" charset="-120"/>
      <p:bold r:id="rId17"/>
    </p:embeddedFont>
    <p:embeddedFont>
      <p:font typeface="PT Sans" panose="020B0503020203020204" pitchFamily="34" charset="0"/>
      <p:regular r:id="rId18"/>
    </p:embeddedFont>
    <p:embeddedFont>
      <p:font typeface="PT Sans" panose="020B0503020203020204" pitchFamily="34" charset="-122"/>
      <p:regular r:id="rId19"/>
    </p:embeddedFont>
    <p:embeddedFont>
      <p:font typeface="PT Sans" panose="020B0503020203020204" pitchFamily="34" charset="-120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10" Type="http://schemas.openxmlformats.org/officeDocument/2006/relationships/image" Target="../media/image21.sv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315468"/>
            <a:ext cx="6223638" cy="586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NEXTPATH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201293"/>
            <a:ext cx="6833223" cy="319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Opportunity-intelligence + application-readiness platform for students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3744813"/>
            <a:ext cx="6223638" cy="797719"/>
          </a:xfrm>
          <a:prstGeom prst="roundRect">
            <a:avLst>
              <a:gd name="adj" fmla="val 37509"/>
            </a:avLst>
          </a:prstGeom>
          <a:solidFill>
            <a:srgbClr val="785507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10" y="4035425"/>
            <a:ext cx="249330" cy="199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6266" y="3994051"/>
            <a:ext cx="5985618" cy="319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10-minute pitch • Executive overview for judges &amp; mentors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557635"/>
            <a:ext cx="6223638" cy="586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Problem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2443460"/>
            <a:ext cx="3012107" cy="148828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6560" y="2661940"/>
            <a:ext cx="2575158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Discovery gap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6560" y="3074888"/>
            <a:ext cx="2575158" cy="638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Opportunities scattered across platforms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3909617" y="2443460"/>
            <a:ext cx="3012107" cy="148828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28091" y="2661940"/>
            <a:ext cx="2575158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Eligibility gap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28091" y="3074888"/>
            <a:ext cx="2575158" cy="638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Students unsure if they qualify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8086" y="4131171"/>
            <a:ext cx="6223638" cy="1169095"/>
          </a:xfrm>
          <a:prstGeom prst="roundRect">
            <a:avLst>
              <a:gd name="adj" fmla="val 25594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6560" y="4349651"/>
            <a:ext cx="5786690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Action gap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6560" y="4762599"/>
            <a:ext cx="5786690" cy="319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Applications are repetitive, slow, error-prone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104231"/>
            <a:ext cx="10795524" cy="586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What NEXTPATH Does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3089870"/>
            <a:ext cx="728347" cy="4501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75763" y="3089870"/>
            <a:ext cx="1534181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Aggregates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75763" y="3502819"/>
            <a:ext cx="1534181" cy="957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Unified feed from universities, NGOs, companies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274" y="3089870"/>
            <a:ext cx="728347" cy="4501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36952" y="3089870"/>
            <a:ext cx="1534181" cy="5865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Determines Eligibility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436952" y="3796109"/>
            <a:ext cx="1534181" cy="957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Rule-based engine → clear verdict + reason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63" y="3089870"/>
            <a:ext cx="728347" cy="4501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98140" y="3089870"/>
            <a:ext cx="1534181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Prioritizes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198140" y="3502819"/>
            <a:ext cx="1534181" cy="957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Match score, deadline, funding, goals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652" y="3089870"/>
            <a:ext cx="728446" cy="4501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59428" y="3089870"/>
            <a:ext cx="1534181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Assists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959428" y="3502819"/>
            <a:ext cx="1534181" cy="957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Autofill, draft letters, track applications</a:t>
            </a:r>
            <a:endParaRPr lang="en-US" sz="1550" dirty="0"/>
          </a:p>
        </p:txBody>
      </p:sp>
      <p:pic>
        <p:nvPicPr>
          <p:cNvPr id="17" name="Picture 16" descr="Screenshot 2026-09-10 0412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285" y="6588760"/>
            <a:ext cx="1840865" cy="211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52625"/>
            <a:ext cx="6846716" cy="29525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8783" y="4350979"/>
            <a:ext cx="1461826" cy="182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Application Assistant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1158783" y="3667511"/>
            <a:ext cx="1461826" cy="182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Eligibility &amp; Scoring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58783" y="2990947"/>
            <a:ext cx="1461826" cy="182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Match Database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58783" y="2307479"/>
            <a:ext cx="1461826" cy="182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Build Profile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037708" y="1388765"/>
            <a:ext cx="3462152" cy="9388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Core Architecture (one sentence)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8037708" y="2527002"/>
            <a:ext cx="3462152" cy="12767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Profile → verified opportunity DB → eligibility &amp; match engines → AI explains → application assistant → tracker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037708" y="4028083"/>
            <a:ext cx="3462152" cy="1416149"/>
          </a:xfrm>
          <a:prstGeom prst="roundRect">
            <a:avLst>
              <a:gd name="adj" fmla="val 21129"/>
            </a:avLst>
          </a:prstGeom>
          <a:solidFill>
            <a:srgbClr val="785507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133" y="4331395"/>
            <a:ext cx="249330" cy="1994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5888" y="4257377"/>
            <a:ext cx="2614547" cy="957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Golden rule: AI explains. Rules + DB = source of truth. AI does NOT decide eligibility.</a:t>
            </a:r>
            <a:endParaRPr lang="en-US" sz="1550" dirty="0"/>
          </a:p>
        </p:txBody>
      </p:sp>
      <p:pic>
        <p:nvPicPr>
          <p:cNvPr id="12" name="Picture 11" descr="Screenshot 2026-09-10 0412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4035" y="6492875"/>
            <a:ext cx="1990725" cy="461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85330"/>
            <a:ext cx="10795524" cy="586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Features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670969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6077" y="2670969"/>
            <a:ext cx="2684296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6077" y="3083917"/>
            <a:ext cx="2684296" cy="638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Searchable feed, NL AI search, filters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704" y="2670969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7695" y="2670969"/>
            <a:ext cx="2684296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Eligibility Engine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127695" y="3083917"/>
            <a:ext cx="2684296" cy="638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Rule-based; 4-state verdict + "Why not?" feedback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1322" y="2670969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09313" y="2670969"/>
            <a:ext cx="2684296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Match Engine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809313" y="3083917"/>
            <a:ext cx="2684296" cy="638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Score broken down by skills, major, goals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121249"/>
            <a:ext cx="498661" cy="4986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46077" y="4121249"/>
            <a:ext cx="2684296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Application Assistant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446077" y="4534198"/>
            <a:ext cx="2684296" cy="638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Reusable profile, autofill, draft letters, tracker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79704" y="4121249"/>
            <a:ext cx="498661" cy="4986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27695" y="4121249"/>
            <a:ext cx="2684296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Profile Gap Analysis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5127695" y="4534198"/>
            <a:ext cx="2684296" cy="638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Shows missing items to unlock more opportunities</a:t>
            </a:r>
            <a:endParaRPr lang="en-US" sz="1550" dirty="0"/>
          </a:p>
        </p:txBody>
      </p:sp>
      <p:pic>
        <p:nvPicPr>
          <p:cNvPr id="18" name="Picture 17" descr="Screenshot 2026-09-10 0412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3385" y="6560820"/>
            <a:ext cx="199072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68500"/>
            <a:ext cx="5154484" cy="2920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5476" y="1124744"/>
            <a:ext cx="5154484" cy="4694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Tech Stack &amp; Team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345476" y="1818481"/>
            <a:ext cx="2477529" cy="1580753"/>
          </a:xfrm>
          <a:prstGeom prst="roundRect">
            <a:avLst>
              <a:gd name="adj" fmla="val 18929"/>
            </a:avLst>
          </a:prstGeom>
          <a:solidFill>
            <a:srgbClr val="00002E">
              <a:alpha val="75000"/>
            </a:srgbClr>
          </a:solidFill>
          <a:ln w="25399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0300" y="2043311"/>
            <a:ext cx="2027881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70300" y="2536031"/>
            <a:ext cx="2027881" cy="319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Next.js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9022430" y="1818481"/>
            <a:ext cx="2477529" cy="1580753"/>
          </a:xfrm>
          <a:prstGeom prst="roundRect">
            <a:avLst>
              <a:gd name="adj" fmla="val 18929"/>
            </a:avLst>
          </a:prstGeom>
          <a:solidFill>
            <a:srgbClr val="00002E">
              <a:alpha val="75000"/>
            </a:srgbClr>
          </a:solidFill>
          <a:ln w="25399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47254" y="2043311"/>
            <a:ext cx="2027881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247254" y="2536031"/>
            <a:ext cx="2027881" cy="638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Custom API, Supabase (PostgreSQL)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345476" y="3598664"/>
            <a:ext cx="5154484" cy="1261566"/>
          </a:xfrm>
          <a:prstGeom prst="roundRect">
            <a:avLst>
              <a:gd name="adj" fmla="val 23718"/>
            </a:avLst>
          </a:prstGeom>
          <a:solidFill>
            <a:srgbClr val="00002E">
              <a:alpha val="75000"/>
            </a:srgbClr>
          </a:solidFill>
          <a:ln w="25399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70300" y="3823494"/>
            <a:ext cx="4704835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&amp; Data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70300" y="4316214"/>
            <a:ext cx="4704835" cy="319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NL search, requirement extraction, explanation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345476" y="5134372"/>
            <a:ext cx="5154484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6345476" y="5433913"/>
            <a:ext cx="5764068" cy="319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Team: 4 people — Frontend/Product · Backend/DB · AI/Data</a:t>
            </a:r>
            <a:endParaRPr lang="en-US" sz="1550" dirty="0"/>
          </a:p>
        </p:txBody>
      </p:sp>
      <p:pic>
        <p:nvPicPr>
          <p:cNvPr id="15" name="Picture 14" descr="Screenshot 2026-09-10 041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205" y="6551295"/>
            <a:ext cx="199072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Roadmap (8 phases)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41586"/>
            <a:ext cx="975335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6484045"/>
            <a:ext cx="11405108" cy="1196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Focus: Build MVP for hackathon (phases 1–8 prioritized). Skip social features and premature microservices.</a:t>
            </a:r>
            <a:endParaRPr lang="en-US" sz="750" dirty="0"/>
          </a:p>
        </p:txBody>
      </p:sp>
      <p:pic>
        <p:nvPicPr>
          <p:cNvPr id="5" name="Picture 4" descr="Screenshot 2026-09-10 041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0" y="6566535"/>
            <a:ext cx="199072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557635"/>
            <a:ext cx="6223638" cy="586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How NEXTPATH Wins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2443460"/>
            <a:ext cx="3012107" cy="148828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8446" y="2661940"/>
            <a:ext cx="2575158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DISCOVER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8446" y="3074888"/>
            <a:ext cx="2575158" cy="319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Find opportunities globally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481503" y="2443460"/>
            <a:ext cx="3012107" cy="148828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99977" y="2661940"/>
            <a:ext cx="2575158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99977" y="3074888"/>
            <a:ext cx="2575158" cy="6383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Tell students if they can apply — and why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269971" y="4131171"/>
            <a:ext cx="6223638" cy="1169095"/>
          </a:xfrm>
          <a:prstGeom prst="roundRect">
            <a:avLst>
              <a:gd name="adj" fmla="val 25594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8446" y="4349651"/>
            <a:ext cx="5786690" cy="293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8446" y="4762599"/>
            <a:ext cx="5786690" cy="319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Turn matches into prepared, trackable applications</a:t>
            </a:r>
            <a:endParaRPr lang="en-US" sz="1550" dirty="0"/>
          </a:p>
        </p:txBody>
      </p:sp>
      <p:pic>
        <p:nvPicPr>
          <p:cNvPr id="14" name="Picture 13" descr="Screenshot 2026-09-10 041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5610" y="6571615"/>
            <a:ext cx="1990725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1618</Words>
  <Application>WPS Presentation</Application>
  <PresentationFormat>On-screen Show (16:9)</PresentationFormat>
  <Paragraphs>108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Nunito SemiBold</vt:lpstr>
      <vt:lpstr>Nunito SemiBold</vt:lpstr>
      <vt:lpstr>Nunito SemiBold</vt:lpstr>
      <vt:lpstr>PT Sans</vt:lpstr>
      <vt:lpstr>PT Sans</vt:lpstr>
      <vt:lpstr>PT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Ahmed tekhno</cp:lastModifiedBy>
  <cp:revision>2</cp:revision>
  <dcterms:created xsi:type="dcterms:W3CDTF">2026-09-10T01:10:00Z</dcterms:created>
  <dcterms:modified xsi:type="dcterms:W3CDTF">2026-09-10T01:17:14Z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D4D6A7F5FFC04D718C79BFC35C1CD5EF_12</vt:lpwstr>
  </property>
</Properties>
</file>