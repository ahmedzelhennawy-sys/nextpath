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uce Bold" charset="1" panose="00000800000000000000"/>
      <p:regular r:id="rId13"/>
    </p:embeddedFont>
    <p:embeddedFont>
      <p:font typeface="Open Sauce" charset="1" panose="00000500000000000000"/>
      <p:regular r:id="rId14"/>
    </p:embeddedFont>
    <p:embeddedFont>
      <p:font typeface="DM Sans Italics" charset="1" panose="00000000000000000000"/>
      <p:regular r:id="rId15"/>
    </p:embeddedFont>
    <p:embeddedFont>
      <p:font typeface="Canva Sans Bold" charset="1" panose="020B0803030501040103"/>
      <p:regular r:id="rId16"/>
    </p:embeddedFon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https://www.educationfair.net/market-reports/africa-the-middle-east/market-report-egypt/" TargetMode="External" Type="http://schemas.openxmlformats.org/officeDocument/2006/relationships/hyperlink"/><Relationship Id="rId5" Target="https://www.facebook.com/WorldBankMiddleEastNorthAfrica/posts/in-mena-youth-unemployment-is-25-the-highest-in-the-world-nearly-300-million-you/1094058976201923/" TargetMode="External" Type="http://schemas.openxmlformats.org/officeDocument/2006/relationships/hyperlink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895845" y="-536771"/>
            <a:ext cx="10432225" cy="12112889"/>
          </a:xfrm>
          <a:custGeom>
            <a:avLst/>
            <a:gdLst/>
            <a:ahLst/>
            <a:cxnLst/>
            <a:rect r="r" b="b" t="t" l="l"/>
            <a:pathLst>
              <a:path h="12112889" w="10432225">
                <a:moveTo>
                  <a:pt x="0" y="0"/>
                </a:moveTo>
                <a:lnTo>
                  <a:pt x="10432225" y="0"/>
                </a:lnTo>
                <a:lnTo>
                  <a:pt x="10432225" y="12112889"/>
                </a:lnTo>
                <a:lnTo>
                  <a:pt x="0" y="1211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2638280"/>
            <a:ext cx="16147521" cy="4285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07"/>
              </a:lnSpc>
            </a:pPr>
            <a:r>
              <a:rPr lang="en-US" b="true" sz="9230" spc="-553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Wh</a:t>
            </a:r>
            <a:r>
              <a:rPr lang="en-US" b="true" sz="9230" spc="-553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at if the right opportunity already exists</a:t>
            </a:r>
          </a:p>
          <a:p>
            <a:pPr algn="l" marL="0" indent="0" lvl="0">
              <a:lnSpc>
                <a:spcPts val="8307"/>
              </a:lnSpc>
            </a:pPr>
          </a:p>
          <a:p>
            <a:pPr algn="l" marL="0" indent="0" lvl="0">
              <a:lnSpc>
                <a:spcPts val="8307"/>
              </a:lnSpc>
            </a:pPr>
            <a:r>
              <a:rPr lang="en-US" b="true" sz="9230" spc="-553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but you never find it?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0802263" y="-1878320"/>
            <a:ext cx="12846569" cy="14020812"/>
          </a:xfrm>
          <a:custGeom>
            <a:avLst/>
            <a:gdLst/>
            <a:ahLst/>
            <a:cxnLst/>
            <a:rect r="r" b="b" t="t" l="l"/>
            <a:pathLst>
              <a:path h="14020812" w="12846569">
                <a:moveTo>
                  <a:pt x="0" y="0"/>
                </a:moveTo>
                <a:lnTo>
                  <a:pt x="12846569" y="0"/>
                </a:lnTo>
                <a:lnTo>
                  <a:pt x="12846569" y="14020812"/>
                </a:lnTo>
                <a:lnTo>
                  <a:pt x="0" y="14020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4" id="4"/>
          <p:cNvSpPr/>
          <p:nvPr/>
        </p:nvSpPr>
        <p:spPr>
          <a:xfrm>
            <a:off x="1028700" y="7892709"/>
            <a:ext cx="16230600" cy="0"/>
          </a:xfrm>
          <a:prstGeom prst="line">
            <a:avLst/>
          </a:prstGeom>
          <a:ln cap="rnd" w="19050">
            <a:solidFill>
              <a:srgbClr val="44507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4170937"/>
            <a:ext cx="14358097" cy="17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555"/>
              </a:lnSpc>
            </a:pPr>
            <a:r>
              <a:rPr lang="en-US" b="true" sz="13950" spc="-837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NEXT</a:t>
            </a:r>
            <a:r>
              <a:rPr lang="en-US" b="true" sz="13950" spc="-837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PATH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63992" y="5958642"/>
            <a:ext cx="4661556" cy="99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1"/>
              </a:lnSpc>
            </a:pPr>
            <a:r>
              <a:rPr lang="en-US" sz="3891" spc="-233">
                <a:solidFill>
                  <a:srgbClr val="08143A"/>
                </a:solidFill>
                <a:latin typeface="Open Sauce"/>
                <a:ea typeface="Open Sauce"/>
                <a:cs typeface="Open Sauce"/>
                <a:sym typeface="Open Sauce"/>
              </a:rPr>
              <a:t>Team New Era</a:t>
            </a:r>
          </a:p>
          <a:p>
            <a:pPr algn="l" marL="0" indent="0" lvl="0">
              <a:lnSpc>
                <a:spcPts val="3891"/>
              </a:lnSpc>
            </a:pPr>
            <a:r>
              <a:rPr lang="en-US" sz="3891" spc="-233">
                <a:solidFill>
                  <a:srgbClr val="08143A"/>
                </a:solidFill>
                <a:latin typeface="Open Sauce"/>
                <a:ea typeface="Open Sauce"/>
                <a:cs typeface="Open Sauce"/>
                <a:sym typeface="Open Sauce"/>
              </a:rPr>
              <a:t> IMPACT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98805"/>
            <a:ext cx="4715094" cy="53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37"/>
              </a:lnSpc>
            </a:pPr>
            <a:r>
              <a:rPr lang="en-US" b="true" sz="3098" spc="-158">
                <a:solidFill>
                  <a:srgbClr val="08143A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NewEra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82238" y="5958642"/>
            <a:ext cx="8671398" cy="994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1"/>
              </a:lnSpc>
            </a:pPr>
            <a:r>
              <a:rPr lang="en-US" sz="3891" spc="-233">
                <a:solidFill>
                  <a:srgbClr val="08143A"/>
                </a:solidFill>
                <a:latin typeface="Open Sauce"/>
                <a:ea typeface="Open Sauce"/>
                <a:cs typeface="Open Sauce"/>
                <a:sym typeface="Open Sauce"/>
              </a:rPr>
              <a:t>Fi</a:t>
            </a:r>
            <a:r>
              <a:rPr lang="en-US" sz="3891" spc="-233">
                <a:solidFill>
                  <a:srgbClr val="08143A"/>
                </a:solidFill>
                <a:latin typeface="Open Sauce"/>
                <a:ea typeface="Open Sauce"/>
                <a:cs typeface="Open Sauce"/>
                <a:sym typeface="Open Sauce"/>
              </a:rPr>
              <a:t>nding the right opportunity shouldn't be harder than earning it.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379715" y="-360018"/>
            <a:ext cx="11470121" cy="11764227"/>
          </a:xfrm>
          <a:custGeom>
            <a:avLst/>
            <a:gdLst/>
            <a:ahLst/>
            <a:cxnLst/>
            <a:rect r="r" b="b" t="t" l="l"/>
            <a:pathLst>
              <a:path h="11764227" w="11470121">
                <a:moveTo>
                  <a:pt x="0" y="0"/>
                </a:moveTo>
                <a:lnTo>
                  <a:pt x="11470121" y="0"/>
                </a:lnTo>
                <a:lnTo>
                  <a:pt x="11470121" y="11764226"/>
                </a:lnTo>
                <a:lnTo>
                  <a:pt x="0" y="117642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939379"/>
            <a:ext cx="15384655" cy="135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93"/>
              </a:lnSpc>
            </a:pPr>
            <a:r>
              <a:rPr lang="en-US" b="true" sz="10992" spc="-659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WHY IT</a:t>
            </a:r>
            <a:r>
              <a:rPr lang="en-US" b="true" sz="10992" spc="-659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 MATTERS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23617" y="7359812"/>
            <a:ext cx="18735233" cy="4077283"/>
            <a:chOff x="0" y="0"/>
            <a:chExt cx="4934382" cy="1073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4383" cy="1073852"/>
            </a:xfrm>
            <a:custGeom>
              <a:avLst/>
              <a:gdLst/>
              <a:ahLst/>
              <a:cxnLst/>
              <a:rect r="r" b="b" t="t" l="l"/>
              <a:pathLst>
                <a:path h="1073852" w="4934383">
                  <a:moveTo>
                    <a:pt x="41323" y="0"/>
                  </a:moveTo>
                  <a:lnTo>
                    <a:pt x="4893060" y="0"/>
                  </a:lnTo>
                  <a:cubicBezTo>
                    <a:pt x="4904019" y="0"/>
                    <a:pt x="4914530" y="4354"/>
                    <a:pt x="4922279" y="12103"/>
                  </a:cubicBezTo>
                  <a:cubicBezTo>
                    <a:pt x="4930029" y="19853"/>
                    <a:pt x="4934383" y="30363"/>
                    <a:pt x="4934383" y="41323"/>
                  </a:cubicBezTo>
                  <a:lnTo>
                    <a:pt x="4934383" y="1032530"/>
                  </a:lnTo>
                  <a:cubicBezTo>
                    <a:pt x="4934383" y="1055352"/>
                    <a:pt x="4915882" y="1073852"/>
                    <a:pt x="4893060" y="1073852"/>
                  </a:cubicBezTo>
                  <a:lnTo>
                    <a:pt x="41323" y="1073852"/>
                  </a:lnTo>
                  <a:cubicBezTo>
                    <a:pt x="18501" y="1073852"/>
                    <a:pt x="0" y="1055352"/>
                    <a:pt x="0" y="1032530"/>
                  </a:cubicBezTo>
                  <a:lnTo>
                    <a:pt x="0" y="41323"/>
                  </a:lnTo>
                  <a:cubicBezTo>
                    <a:pt x="0" y="18501"/>
                    <a:pt x="18501" y="0"/>
                    <a:pt x="413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34382" cy="111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170400"/>
            <a:ext cx="16230600" cy="5087900"/>
            <a:chOff x="0" y="0"/>
            <a:chExt cx="4274726" cy="13400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1340023"/>
            </a:xfrm>
            <a:custGeom>
              <a:avLst/>
              <a:gdLst/>
              <a:ahLst/>
              <a:cxnLst/>
              <a:rect r="r" b="b" t="t" l="l"/>
              <a:pathLst>
                <a:path h="1340023" w="4274726">
                  <a:moveTo>
                    <a:pt x="21465" y="0"/>
                  </a:moveTo>
                  <a:lnTo>
                    <a:pt x="4253261" y="0"/>
                  </a:lnTo>
                  <a:cubicBezTo>
                    <a:pt x="4265116" y="0"/>
                    <a:pt x="4274726" y="9610"/>
                    <a:pt x="4274726" y="21465"/>
                  </a:cubicBezTo>
                  <a:lnTo>
                    <a:pt x="4274726" y="1318558"/>
                  </a:lnTo>
                  <a:cubicBezTo>
                    <a:pt x="4274726" y="1330413"/>
                    <a:pt x="4265116" y="1340023"/>
                    <a:pt x="4253261" y="1340023"/>
                  </a:cubicBezTo>
                  <a:lnTo>
                    <a:pt x="21465" y="1340023"/>
                  </a:lnTo>
                  <a:cubicBezTo>
                    <a:pt x="9610" y="1340023"/>
                    <a:pt x="0" y="1330413"/>
                    <a:pt x="0" y="1318558"/>
                  </a:cubicBezTo>
                  <a:lnTo>
                    <a:pt x="0" y="21465"/>
                  </a:lnTo>
                  <a:cubicBezTo>
                    <a:pt x="0" y="9610"/>
                    <a:pt x="9610" y="0"/>
                    <a:pt x="21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43A">
                    <a:alpha val="100000"/>
                  </a:srgbClr>
                </a:gs>
                <a:gs pos="50000">
                  <a:srgbClr val="44507C">
                    <a:alpha val="100000"/>
                  </a:srgbClr>
                </a:gs>
                <a:gs pos="100000">
                  <a:srgbClr val="08143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1378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650720" y="6229129"/>
            <a:ext cx="2984191" cy="96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3"/>
              </a:lnSpc>
            </a:pPr>
            <a:r>
              <a:rPr lang="en-US" sz="2855" i="true" spc="-71" u="sng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  <a:hlinkClick r:id="rId4" tooltip="https://www.educationfair.net/market-reports/africa-the-middle-east/market-report-egypt/"/>
              </a:rPr>
              <a:t>University Students in Egypt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50720" y="4779478"/>
            <a:ext cx="2955988" cy="609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96"/>
              </a:lnSpc>
            </a:pP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3.5M+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30710" y="4779478"/>
            <a:ext cx="2955988" cy="173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~</a:t>
            </a: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25%</a:t>
            </a:r>
          </a:p>
          <a:p>
            <a:pPr algn="l" marL="0" indent="0" lvl="0">
              <a:lnSpc>
                <a:spcPts val="4496"/>
              </a:lnSpc>
            </a:pPr>
          </a:p>
          <a:p>
            <a:pPr algn="l" marL="0" indent="0" lvl="0">
              <a:lnSpc>
                <a:spcPts val="4496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494038" y="4779478"/>
            <a:ext cx="2955988" cy="173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8</a:t>
            </a: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0%</a:t>
            </a:r>
          </a:p>
          <a:p>
            <a:pPr algn="l" marL="0" indent="0" lvl="0">
              <a:lnSpc>
                <a:spcPts val="4496"/>
              </a:lnSpc>
            </a:pPr>
          </a:p>
          <a:p>
            <a:pPr algn="l" marL="0" indent="0" lvl="0">
              <a:lnSpc>
                <a:spcPts val="4496"/>
              </a:lnSpc>
            </a:pPr>
          </a:p>
        </p:txBody>
      </p:sp>
      <p:sp>
        <p:nvSpPr>
          <p:cNvPr name="AutoShape 15" id="15"/>
          <p:cNvSpPr/>
          <p:nvPr/>
        </p:nvSpPr>
        <p:spPr>
          <a:xfrm flipV="true">
            <a:off x="4992547" y="5987108"/>
            <a:ext cx="0" cy="2410759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8872538" y="5987108"/>
            <a:ext cx="0" cy="2410759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2752528" y="5987108"/>
            <a:ext cx="0" cy="2410759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6632518" y="5987108"/>
            <a:ext cx="0" cy="2410759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3457367" y="4779478"/>
            <a:ext cx="2955988" cy="173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96"/>
              </a:lnSpc>
            </a:pP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</a:t>
            </a:r>
            <a:r>
              <a:rPr lang="en-US" b="true" sz="4996" spc="-6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00%</a:t>
            </a:r>
          </a:p>
          <a:p>
            <a:pPr algn="l" marL="0" indent="0" lvl="0">
              <a:lnSpc>
                <a:spcPts val="4496"/>
              </a:lnSpc>
            </a:pPr>
          </a:p>
          <a:p>
            <a:pPr algn="l" marL="0" indent="0" lvl="0">
              <a:lnSpc>
                <a:spcPts val="4496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3196386"/>
            <a:ext cx="1538465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The</a:t>
            </a:r>
            <a:r>
              <a:rPr lang="en-US" b="true" sz="5199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 Scale of the Problem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30710" y="6212646"/>
            <a:ext cx="2717940" cy="195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855" i="true" spc="-71" u="sng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  <a:hlinkClick r:id="rId5" tooltip="https://www.facebook.com/WorldBankMiddleEastNorthAfrica/posts/in-mena-youth-unemployment-is-25-the-highest-in-the-world-nearly-300-million-you/1094058976201923/"/>
              </a:rPr>
              <a:t>Youth Unemployment Across MENA</a:t>
            </a:r>
          </a:p>
          <a:p>
            <a:pPr algn="l" marL="0" indent="0" lvl="0">
              <a:lnSpc>
                <a:spcPts val="3883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494038" y="6196164"/>
            <a:ext cx="2984191" cy="96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3"/>
              </a:lnSpc>
            </a:pPr>
            <a:r>
              <a:rPr lang="en-US" sz="2855" i="true" spc="-7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Targ</a:t>
            </a:r>
            <a:r>
              <a:rPr lang="en-US" sz="2855" i="true" spc="-7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et Reduction in Search Time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57367" y="6196164"/>
            <a:ext cx="2984191" cy="1457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83"/>
              </a:lnSpc>
            </a:pPr>
            <a:r>
              <a:rPr lang="en-US" sz="2855" i="true" spc="-7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Target I</a:t>
            </a:r>
            <a:r>
              <a:rPr lang="en-US" sz="2855" i="true" spc="-7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ncrease in Successful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895845" y="-536771"/>
            <a:ext cx="10432225" cy="12112889"/>
          </a:xfrm>
          <a:custGeom>
            <a:avLst/>
            <a:gdLst/>
            <a:ahLst/>
            <a:cxnLst/>
            <a:rect r="r" b="b" t="t" l="l"/>
            <a:pathLst>
              <a:path h="12112889" w="10432225">
                <a:moveTo>
                  <a:pt x="0" y="0"/>
                </a:moveTo>
                <a:lnTo>
                  <a:pt x="10432225" y="0"/>
                </a:lnTo>
                <a:lnTo>
                  <a:pt x="10432225" y="12112889"/>
                </a:lnTo>
                <a:lnTo>
                  <a:pt x="0" y="1211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528688"/>
            <a:ext cx="13628272" cy="126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63"/>
              </a:lnSpc>
            </a:pPr>
            <a:r>
              <a:rPr lang="en-US" b="true" sz="10292" spc="-617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THE SOLUTION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23617" y="7359812"/>
            <a:ext cx="18735233" cy="4077283"/>
            <a:chOff x="0" y="0"/>
            <a:chExt cx="4934382" cy="1073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4383" cy="1073852"/>
            </a:xfrm>
            <a:custGeom>
              <a:avLst/>
              <a:gdLst/>
              <a:ahLst/>
              <a:cxnLst/>
              <a:rect r="r" b="b" t="t" l="l"/>
              <a:pathLst>
                <a:path h="1073852" w="4934383">
                  <a:moveTo>
                    <a:pt x="41323" y="0"/>
                  </a:moveTo>
                  <a:lnTo>
                    <a:pt x="4893060" y="0"/>
                  </a:lnTo>
                  <a:cubicBezTo>
                    <a:pt x="4904019" y="0"/>
                    <a:pt x="4914530" y="4354"/>
                    <a:pt x="4922279" y="12103"/>
                  </a:cubicBezTo>
                  <a:cubicBezTo>
                    <a:pt x="4930029" y="19853"/>
                    <a:pt x="4934383" y="30363"/>
                    <a:pt x="4934383" y="41323"/>
                  </a:cubicBezTo>
                  <a:lnTo>
                    <a:pt x="4934383" y="1032530"/>
                  </a:lnTo>
                  <a:cubicBezTo>
                    <a:pt x="4934383" y="1055352"/>
                    <a:pt x="4915882" y="1073852"/>
                    <a:pt x="4893060" y="1073852"/>
                  </a:cubicBezTo>
                  <a:lnTo>
                    <a:pt x="41323" y="1073852"/>
                  </a:lnTo>
                  <a:cubicBezTo>
                    <a:pt x="18501" y="1073852"/>
                    <a:pt x="0" y="1055352"/>
                    <a:pt x="0" y="1032530"/>
                  </a:cubicBezTo>
                  <a:lnTo>
                    <a:pt x="0" y="41323"/>
                  </a:lnTo>
                  <a:cubicBezTo>
                    <a:pt x="0" y="18501"/>
                    <a:pt x="18501" y="0"/>
                    <a:pt x="413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34382" cy="111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119035"/>
            <a:ext cx="16230600" cy="5139265"/>
            <a:chOff x="0" y="0"/>
            <a:chExt cx="4274726" cy="1353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1353551"/>
            </a:xfrm>
            <a:custGeom>
              <a:avLst/>
              <a:gdLst/>
              <a:ahLst/>
              <a:cxnLst/>
              <a:rect r="r" b="b" t="t" l="l"/>
              <a:pathLst>
                <a:path h="1353551" w="4274726">
                  <a:moveTo>
                    <a:pt x="21465" y="0"/>
                  </a:moveTo>
                  <a:lnTo>
                    <a:pt x="4253261" y="0"/>
                  </a:lnTo>
                  <a:cubicBezTo>
                    <a:pt x="4265116" y="0"/>
                    <a:pt x="4274726" y="9610"/>
                    <a:pt x="4274726" y="21465"/>
                  </a:cubicBezTo>
                  <a:lnTo>
                    <a:pt x="4274726" y="1332086"/>
                  </a:lnTo>
                  <a:cubicBezTo>
                    <a:pt x="4274726" y="1343941"/>
                    <a:pt x="4265116" y="1353551"/>
                    <a:pt x="4253261" y="1353551"/>
                  </a:cubicBezTo>
                  <a:lnTo>
                    <a:pt x="21465" y="1353551"/>
                  </a:lnTo>
                  <a:cubicBezTo>
                    <a:pt x="9610" y="1353551"/>
                    <a:pt x="0" y="1343941"/>
                    <a:pt x="0" y="1332086"/>
                  </a:cubicBezTo>
                  <a:lnTo>
                    <a:pt x="0" y="21465"/>
                  </a:lnTo>
                  <a:cubicBezTo>
                    <a:pt x="0" y="9610"/>
                    <a:pt x="9610" y="0"/>
                    <a:pt x="21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43A">
                    <a:alpha val="100000"/>
                  </a:srgbClr>
                </a:gs>
                <a:gs pos="50000">
                  <a:srgbClr val="44507C">
                    <a:alpha val="100000"/>
                  </a:srgbClr>
                </a:gs>
                <a:gs pos="100000">
                  <a:srgbClr val="08143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1391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0219" y="4639830"/>
            <a:ext cx="1140784" cy="114078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68889" y="4564253"/>
            <a:ext cx="1140784" cy="11407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94554" y="4639830"/>
            <a:ext cx="1140784" cy="11407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143A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90611" y="6029084"/>
            <a:ext cx="4043023" cy="126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1"/>
              </a:lnSpc>
            </a:pP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V</a:t>
            </a: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erified Opportunities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0219" y="5037293"/>
            <a:ext cx="1140784" cy="4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3575" spc="-214">
                <a:solidFill>
                  <a:srgbClr val="22222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68889" y="4961716"/>
            <a:ext cx="1140784" cy="4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3575" spc="-214">
                <a:solidFill>
                  <a:srgbClr val="22222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554" y="5037293"/>
            <a:ext cx="1140784" cy="4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3575" spc="-21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872" y="4989877"/>
            <a:ext cx="2955988" cy="45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ISCOVER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34392" y="4989877"/>
            <a:ext cx="2955988" cy="133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</a:t>
            </a: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STAND</a:t>
            </a:r>
          </a:p>
          <a:p>
            <a:pPr algn="l" marL="0" indent="0" lvl="0">
              <a:lnSpc>
                <a:spcPts val="3517"/>
              </a:lnSpc>
            </a:pPr>
          </a:p>
          <a:p>
            <a:pPr algn="l" marL="0" indent="0" lvl="0">
              <a:lnSpc>
                <a:spcPts val="351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804948" y="4923155"/>
            <a:ext cx="2955988" cy="1336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ACT</a:t>
            </a:r>
          </a:p>
          <a:p>
            <a:pPr algn="l">
              <a:lnSpc>
                <a:spcPts val="3517"/>
              </a:lnSpc>
            </a:pPr>
          </a:p>
          <a:p>
            <a:pPr algn="l" marL="0" indent="0" lvl="0">
              <a:lnSpc>
                <a:spcPts val="3517"/>
              </a:lnSpc>
            </a:pPr>
          </a:p>
        </p:txBody>
      </p:sp>
      <p:sp>
        <p:nvSpPr>
          <p:cNvPr name="AutoShape 27" id="27"/>
          <p:cNvSpPr/>
          <p:nvPr/>
        </p:nvSpPr>
        <p:spPr>
          <a:xfrm flipV="true">
            <a:off x="11828542" y="4639830"/>
            <a:ext cx="0" cy="4173252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6356391" y="4715407"/>
            <a:ext cx="0" cy="4097675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119037" y="2711406"/>
            <a:ext cx="869334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4500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DI</a:t>
            </a:r>
            <a:r>
              <a:rPr lang="en-US" b="true" sz="4500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SCOVER. UNDERSTAND. ACT.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47356" y="6019559"/>
            <a:ext cx="4043023" cy="1392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5"/>
              </a:lnSpc>
            </a:pPr>
            <a:r>
              <a:rPr lang="en-US" sz="4114" i="true" spc="-10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Know I</a:t>
            </a:r>
            <a:r>
              <a:rPr lang="en-US" sz="4114" i="true" spc="-10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 You Qualify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04102" y="6029084"/>
            <a:ext cx="4043023" cy="1262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1"/>
              </a:lnSpc>
            </a:pP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K</a:t>
            </a: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now What To Do Next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678970" y="-444453"/>
            <a:ext cx="10869491" cy="11928110"/>
          </a:xfrm>
          <a:custGeom>
            <a:avLst/>
            <a:gdLst/>
            <a:ahLst/>
            <a:cxnLst/>
            <a:rect r="r" b="b" t="t" l="l"/>
            <a:pathLst>
              <a:path h="11928110" w="10869491">
                <a:moveTo>
                  <a:pt x="0" y="0"/>
                </a:moveTo>
                <a:lnTo>
                  <a:pt x="10869490" y="0"/>
                </a:lnTo>
                <a:lnTo>
                  <a:pt x="10869490" y="11928111"/>
                </a:lnTo>
                <a:lnTo>
                  <a:pt x="0" y="119281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1939379"/>
            <a:ext cx="13745528" cy="135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893"/>
              </a:lnSpc>
            </a:pPr>
            <a:r>
              <a:rPr lang="en-US" b="true" sz="10992" spc="-659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BUSINESS</a:t>
            </a:r>
            <a:r>
              <a:rPr lang="en-US" b="true" sz="10992" spc="-659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 MODEL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23617" y="7359812"/>
            <a:ext cx="18735233" cy="4077283"/>
            <a:chOff x="0" y="0"/>
            <a:chExt cx="4934382" cy="1073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4383" cy="1073852"/>
            </a:xfrm>
            <a:custGeom>
              <a:avLst/>
              <a:gdLst/>
              <a:ahLst/>
              <a:cxnLst/>
              <a:rect r="r" b="b" t="t" l="l"/>
              <a:pathLst>
                <a:path h="1073852" w="4934383">
                  <a:moveTo>
                    <a:pt x="41323" y="0"/>
                  </a:moveTo>
                  <a:lnTo>
                    <a:pt x="4893060" y="0"/>
                  </a:lnTo>
                  <a:cubicBezTo>
                    <a:pt x="4904019" y="0"/>
                    <a:pt x="4914530" y="4354"/>
                    <a:pt x="4922279" y="12103"/>
                  </a:cubicBezTo>
                  <a:cubicBezTo>
                    <a:pt x="4930029" y="19853"/>
                    <a:pt x="4934383" y="30363"/>
                    <a:pt x="4934383" y="41323"/>
                  </a:cubicBezTo>
                  <a:lnTo>
                    <a:pt x="4934383" y="1032530"/>
                  </a:lnTo>
                  <a:cubicBezTo>
                    <a:pt x="4934383" y="1055352"/>
                    <a:pt x="4915882" y="1073852"/>
                    <a:pt x="4893060" y="1073852"/>
                  </a:cubicBezTo>
                  <a:lnTo>
                    <a:pt x="41323" y="1073852"/>
                  </a:lnTo>
                  <a:cubicBezTo>
                    <a:pt x="18501" y="1073852"/>
                    <a:pt x="0" y="1055352"/>
                    <a:pt x="0" y="1032530"/>
                  </a:cubicBezTo>
                  <a:lnTo>
                    <a:pt x="0" y="41323"/>
                  </a:lnTo>
                  <a:cubicBezTo>
                    <a:pt x="0" y="18501"/>
                    <a:pt x="18501" y="0"/>
                    <a:pt x="413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34382" cy="111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5413962"/>
            <a:ext cx="4970143" cy="3844338"/>
            <a:chOff x="0" y="0"/>
            <a:chExt cx="1309009" cy="10125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09009" cy="1012501"/>
            </a:xfrm>
            <a:custGeom>
              <a:avLst/>
              <a:gdLst/>
              <a:ahLst/>
              <a:cxnLst/>
              <a:rect r="r" b="b" t="t" l="l"/>
              <a:pathLst>
                <a:path h="1012501" w="1309009">
                  <a:moveTo>
                    <a:pt x="70096" y="0"/>
                  </a:moveTo>
                  <a:lnTo>
                    <a:pt x="1238913" y="0"/>
                  </a:lnTo>
                  <a:cubicBezTo>
                    <a:pt x="1277626" y="0"/>
                    <a:pt x="1309009" y="31383"/>
                    <a:pt x="1309009" y="70096"/>
                  </a:cubicBezTo>
                  <a:lnTo>
                    <a:pt x="1309009" y="942405"/>
                  </a:lnTo>
                  <a:cubicBezTo>
                    <a:pt x="1309009" y="960995"/>
                    <a:pt x="1301624" y="978824"/>
                    <a:pt x="1288478" y="991970"/>
                  </a:cubicBezTo>
                  <a:cubicBezTo>
                    <a:pt x="1275333" y="1005115"/>
                    <a:pt x="1257504" y="1012501"/>
                    <a:pt x="1238913" y="1012501"/>
                  </a:cubicBezTo>
                  <a:lnTo>
                    <a:pt x="70096" y="1012501"/>
                  </a:lnTo>
                  <a:cubicBezTo>
                    <a:pt x="31383" y="1012501"/>
                    <a:pt x="0" y="981118"/>
                    <a:pt x="0" y="942405"/>
                  </a:cubicBezTo>
                  <a:lnTo>
                    <a:pt x="0" y="70096"/>
                  </a:lnTo>
                  <a:cubicBezTo>
                    <a:pt x="0" y="31383"/>
                    <a:pt x="31383" y="0"/>
                    <a:pt x="70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43A">
                    <a:alpha val="100000"/>
                  </a:srgbClr>
                </a:gs>
                <a:gs pos="50000">
                  <a:srgbClr val="44507C">
                    <a:alpha val="100000"/>
                  </a:srgbClr>
                </a:gs>
                <a:gs pos="100000">
                  <a:srgbClr val="08143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09009" cy="105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58928" y="5413962"/>
            <a:ext cx="4970143" cy="3844338"/>
            <a:chOff x="0" y="0"/>
            <a:chExt cx="1309009" cy="10125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09009" cy="1012501"/>
            </a:xfrm>
            <a:custGeom>
              <a:avLst/>
              <a:gdLst/>
              <a:ahLst/>
              <a:cxnLst/>
              <a:rect r="r" b="b" t="t" l="l"/>
              <a:pathLst>
                <a:path h="1012501" w="1309009">
                  <a:moveTo>
                    <a:pt x="70096" y="0"/>
                  </a:moveTo>
                  <a:lnTo>
                    <a:pt x="1238913" y="0"/>
                  </a:lnTo>
                  <a:cubicBezTo>
                    <a:pt x="1277626" y="0"/>
                    <a:pt x="1309009" y="31383"/>
                    <a:pt x="1309009" y="70096"/>
                  </a:cubicBezTo>
                  <a:lnTo>
                    <a:pt x="1309009" y="942405"/>
                  </a:lnTo>
                  <a:cubicBezTo>
                    <a:pt x="1309009" y="960995"/>
                    <a:pt x="1301624" y="978824"/>
                    <a:pt x="1288478" y="991970"/>
                  </a:cubicBezTo>
                  <a:cubicBezTo>
                    <a:pt x="1275333" y="1005115"/>
                    <a:pt x="1257504" y="1012501"/>
                    <a:pt x="1238913" y="1012501"/>
                  </a:cubicBezTo>
                  <a:lnTo>
                    <a:pt x="70096" y="1012501"/>
                  </a:lnTo>
                  <a:cubicBezTo>
                    <a:pt x="31383" y="1012501"/>
                    <a:pt x="0" y="981118"/>
                    <a:pt x="0" y="942405"/>
                  </a:cubicBezTo>
                  <a:lnTo>
                    <a:pt x="0" y="70096"/>
                  </a:lnTo>
                  <a:cubicBezTo>
                    <a:pt x="0" y="31383"/>
                    <a:pt x="31383" y="0"/>
                    <a:pt x="70096" y="0"/>
                  </a:cubicBezTo>
                  <a:close/>
                </a:path>
              </a:pathLst>
            </a:custGeom>
            <a:solidFill>
              <a:srgbClr val="08143A"/>
            </a:solidFill>
            <a:ln w="19050" cap="rnd">
              <a:solidFill>
                <a:srgbClr val="181816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09009" cy="105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289157" y="5413962"/>
            <a:ext cx="4970143" cy="3844338"/>
            <a:chOff x="0" y="0"/>
            <a:chExt cx="1309009" cy="10125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09009" cy="1012501"/>
            </a:xfrm>
            <a:custGeom>
              <a:avLst/>
              <a:gdLst/>
              <a:ahLst/>
              <a:cxnLst/>
              <a:rect r="r" b="b" t="t" l="l"/>
              <a:pathLst>
                <a:path h="1012501" w="1309009">
                  <a:moveTo>
                    <a:pt x="70096" y="0"/>
                  </a:moveTo>
                  <a:lnTo>
                    <a:pt x="1238913" y="0"/>
                  </a:lnTo>
                  <a:cubicBezTo>
                    <a:pt x="1277626" y="0"/>
                    <a:pt x="1309009" y="31383"/>
                    <a:pt x="1309009" y="70096"/>
                  </a:cubicBezTo>
                  <a:lnTo>
                    <a:pt x="1309009" y="942405"/>
                  </a:lnTo>
                  <a:cubicBezTo>
                    <a:pt x="1309009" y="960995"/>
                    <a:pt x="1301624" y="978824"/>
                    <a:pt x="1288478" y="991970"/>
                  </a:cubicBezTo>
                  <a:cubicBezTo>
                    <a:pt x="1275333" y="1005115"/>
                    <a:pt x="1257504" y="1012501"/>
                    <a:pt x="1238913" y="1012501"/>
                  </a:cubicBezTo>
                  <a:lnTo>
                    <a:pt x="70096" y="1012501"/>
                  </a:lnTo>
                  <a:cubicBezTo>
                    <a:pt x="31383" y="1012501"/>
                    <a:pt x="0" y="981118"/>
                    <a:pt x="0" y="942405"/>
                  </a:cubicBezTo>
                  <a:lnTo>
                    <a:pt x="0" y="70096"/>
                  </a:lnTo>
                  <a:cubicBezTo>
                    <a:pt x="0" y="31383"/>
                    <a:pt x="31383" y="0"/>
                    <a:pt x="7009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43A">
                    <a:alpha val="100000"/>
                  </a:srgbClr>
                </a:gs>
                <a:gs pos="50000">
                  <a:srgbClr val="44507C">
                    <a:alpha val="100000"/>
                  </a:srgbClr>
                </a:gs>
                <a:gs pos="100000">
                  <a:srgbClr val="08143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09009" cy="10506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68248" y="6674475"/>
            <a:ext cx="4815833" cy="74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75"/>
              </a:lnSpc>
            </a:pPr>
            <a:r>
              <a:rPr lang="en-US" sz="4467" i="true" spc="-11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free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98477" y="6703050"/>
            <a:ext cx="5190680" cy="40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66"/>
              </a:lnSpc>
            </a:pPr>
            <a:r>
              <a:rPr lang="en-US" sz="2475" i="true" spc="-6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$500–$2,500</a:t>
            </a:r>
            <a:r>
              <a:rPr lang="en-US" sz="2475" i="true" spc="-61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 / Listing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68248" y="5917776"/>
            <a:ext cx="4072744" cy="42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1"/>
              </a:lnSpc>
            </a:pPr>
            <a:r>
              <a:rPr lang="en-US" b="true" sz="3047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Students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98477" y="5917776"/>
            <a:ext cx="3965035" cy="42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b="true" sz="3047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Ins</a:t>
            </a:r>
            <a:r>
              <a:rPr lang="en-US" b="true" sz="3047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titutions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28705" y="5917776"/>
            <a:ext cx="4072744" cy="429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1"/>
              </a:lnSpc>
              <a:spcBef>
                <a:spcPct val="0"/>
              </a:spcBef>
            </a:pPr>
            <a:r>
              <a:rPr lang="en-US" b="true" sz="3047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</a:t>
            </a:r>
            <a:r>
              <a:rPr lang="en-US" b="true" sz="3047" spc="-3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niversities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728705" y="6703050"/>
            <a:ext cx="5559295" cy="433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5"/>
              </a:lnSpc>
            </a:pPr>
            <a:r>
              <a:rPr lang="en-US" sz="2651" i="true" spc="-66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$3</a:t>
            </a:r>
            <a:r>
              <a:rPr lang="en-US" sz="2651" i="true" spc="-66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,000–$10,000 / Year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196386"/>
            <a:ext cx="13745528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Who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Pays?</a:t>
            </a:r>
          </a:p>
          <a:p>
            <a:pPr algn="l">
              <a:lnSpc>
                <a:spcPts val="7279"/>
              </a:lnSpc>
            </a:pPr>
          </a:p>
          <a:p>
            <a:pPr algn="l">
              <a:lnSpc>
                <a:spcPts val="72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895845" y="-536771"/>
            <a:ext cx="10432225" cy="12112889"/>
          </a:xfrm>
          <a:custGeom>
            <a:avLst/>
            <a:gdLst/>
            <a:ahLst/>
            <a:cxnLst/>
            <a:rect r="r" b="b" t="t" l="l"/>
            <a:pathLst>
              <a:path h="12112889" w="10432225">
                <a:moveTo>
                  <a:pt x="0" y="0"/>
                </a:moveTo>
                <a:lnTo>
                  <a:pt x="10432225" y="0"/>
                </a:lnTo>
                <a:lnTo>
                  <a:pt x="10432225" y="12112889"/>
                </a:lnTo>
                <a:lnTo>
                  <a:pt x="0" y="1211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221201" y="2164792"/>
            <a:ext cx="13628272" cy="1268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263"/>
              </a:lnSpc>
            </a:pPr>
            <a:r>
              <a:rPr lang="en-US" b="true" sz="10292" spc="-617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Roadmap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223617" y="7359812"/>
            <a:ext cx="18735233" cy="4077283"/>
            <a:chOff x="0" y="0"/>
            <a:chExt cx="4934382" cy="10738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34383" cy="1073852"/>
            </a:xfrm>
            <a:custGeom>
              <a:avLst/>
              <a:gdLst/>
              <a:ahLst/>
              <a:cxnLst/>
              <a:rect r="r" b="b" t="t" l="l"/>
              <a:pathLst>
                <a:path h="1073852" w="4934383">
                  <a:moveTo>
                    <a:pt x="41323" y="0"/>
                  </a:moveTo>
                  <a:lnTo>
                    <a:pt x="4893060" y="0"/>
                  </a:lnTo>
                  <a:cubicBezTo>
                    <a:pt x="4904019" y="0"/>
                    <a:pt x="4914530" y="4354"/>
                    <a:pt x="4922279" y="12103"/>
                  </a:cubicBezTo>
                  <a:cubicBezTo>
                    <a:pt x="4930029" y="19853"/>
                    <a:pt x="4934383" y="30363"/>
                    <a:pt x="4934383" y="41323"/>
                  </a:cubicBezTo>
                  <a:lnTo>
                    <a:pt x="4934383" y="1032530"/>
                  </a:lnTo>
                  <a:cubicBezTo>
                    <a:pt x="4934383" y="1055352"/>
                    <a:pt x="4915882" y="1073852"/>
                    <a:pt x="4893060" y="1073852"/>
                  </a:cubicBezTo>
                  <a:lnTo>
                    <a:pt x="41323" y="1073852"/>
                  </a:lnTo>
                  <a:cubicBezTo>
                    <a:pt x="18501" y="1073852"/>
                    <a:pt x="0" y="1055352"/>
                    <a:pt x="0" y="1032530"/>
                  </a:cubicBezTo>
                  <a:lnTo>
                    <a:pt x="0" y="41323"/>
                  </a:lnTo>
                  <a:cubicBezTo>
                    <a:pt x="0" y="18501"/>
                    <a:pt x="18501" y="0"/>
                    <a:pt x="4132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934382" cy="11119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119035"/>
            <a:ext cx="16230600" cy="5139265"/>
            <a:chOff x="0" y="0"/>
            <a:chExt cx="4274726" cy="1353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1353551"/>
            </a:xfrm>
            <a:custGeom>
              <a:avLst/>
              <a:gdLst/>
              <a:ahLst/>
              <a:cxnLst/>
              <a:rect r="r" b="b" t="t" l="l"/>
              <a:pathLst>
                <a:path h="1353551" w="4274726">
                  <a:moveTo>
                    <a:pt x="21465" y="0"/>
                  </a:moveTo>
                  <a:lnTo>
                    <a:pt x="4253261" y="0"/>
                  </a:lnTo>
                  <a:cubicBezTo>
                    <a:pt x="4265116" y="0"/>
                    <a:pt x="4274726" y="9610"/>
                    <a:pt x="4274726" y="21465"/>
                  </a:cubicBezTo>
                  <a:lnTo>
                    <a:pt x="4274726" y="1332086"/>
                  </a:lnTo>
                  <a:cubicBezTo>
                    <a:pt x="4274726" y="1343941"/>
                    <a:pt x="4265116" y="1353551"/>
                    <a:pt x="4253261" y="1353551"/>
                  </a:cubicBezTo>
                  <a:lnTo>
                    <a:pt x="21465" y="1353551"/>
                  </a:lnTo>
                  <a:cubicBezTo>
                    <a:pt x="9610" y="1353551"/>
                    <a:pt x="0" y="1343941"/>
                    <a:pt x="0" y="1332086"/>
                  </a:cubicBezTo>
                  <a:lnTo>
                    <a:pt x="0" y="21465"/>
                  </a:lnTo>
                  <a:cubicBezTo>
                    <a:pt x="0" y="9610"/>
                    <a:pt x="9610" y="0"/>
                    <a:pt x="214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8143A">
                    <a:alpha val="100000"/>
                  </a:srgbClr>
                </a:gs>
                <a:gs pos="50000">
                  <a:srgbClr val="44507C">
                    <a:alpha val="100000"/>
                  </a:srgbClr>
                </a:gs>
                <a:gs pos="100000">
                  <a:srgbClr val="08143A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1391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20219" y="4639830"/>
            <a:ext cx="1140784" cy="1140784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68889" y="4564253"/>
            <a:ext cx="1140784" cy="114078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894554" y="4639830"/>
            <a:ext cx="1140784" cy="11407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8143A"/>
            </a:solidFill>
            <a:ln w="19050" cap="sq">
              <a:solidFill>
                <a:srgbClr val="E2E8F2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990611" y="6019559"/>
            <a:ext cx="4043023" cy="146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67"/>
              </a:lnSpc>
            </a:pPr>
            <a:r>
              <a:rPr lang="en-US" sz="4314" i="true" spc="-107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Finalize the website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20219" y="5037293"/>
            <a:ext cx="1140784" cy="84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7"/>
              </a:lnSpc>
            </a:pPr>
            <a:r>
              <a:rPr lang="en-US" b="true" sz="3575" spc="-214">
                <a:solidFill>
                  <a:srgbClr val="22222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30</a:t>
            </a:r>
          </a:p>
          <a:p>
            <a:pPr algn="ctr" marL="0" indent="0" lvl="0">
              <a:lnSpc>
                <a:spcPts val="3217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368889" y="4961716"/>
            <a:ext cx="1140784" cy="4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3575" spc="-214">
                <a:solidFill>
                  <a:srgbClr val="222223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94554" y="5037293"/>
            <a:ext cx="1140784" cy="44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7"/>
              </a:lnSpc>
            </a:pPr>
            <a:r>
              <a:rPr lang="en-US" b="true" sz="3575" spc="-214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90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57872" y="4989877"/>
            <a:ext cx="2955988" cy="45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</a:t>
            </a: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34392" y="4989877"/>
            <a:ext cx="2955988" cy="89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Days</a:t>
            </a:r>
          </a:p>
          <a:p>
            <a:pPr algn="l" marL="0" indent="0" lvl="0">
              <a:lnSpc>
                <a:spcPts val="3517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804948" y="4923155"/>
            <a:ext cx="2955988" cy="459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17"/>
              </a:lnSpc>
            </a:pPr>
            <a:r>
              <a:rPr lang="en-US" sz="3197" spc="-5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Months</a:t>
            </a:r>
          </a:p>
        </p:txBody>
      </p:sp>
      <p:sp>
        <p:nvSpPr>
          <p:cNvPr name="AutoShape 27" id="27"/>
          <p:cNvSpPr/>
          <p:nvPr/>
        </p:nvSpPr>
        <p:spPr>
          <a:xfrm flipV="true">
            <a:off x="11828542" y="4639830"/>
            <a:ext cx="0" cy="4173252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6356391" y="4715407"/>
            <a:ext cx="0" cy="4097675"/>
          </a:xfrm>
          <a:prstGeom prst="line">
            <a:avLst/>
          </a:prstGeom>
          <a:ln cap="flat" w="9525">
            <a:solidFill>
              <a:srgbClr val="A7B6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7247356" y="6019559"/>
            <a:ext cx="4043023" cy="209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5"/>
              </a:lnSpc>
            </a:pPr>
            <a:r>
              <a:rPr lang="en-US" sz="4114" i="true" spc="-10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3 Universities</a:t>
            </a:r>
          </a:p>
          <a:p>
            <a:pPr algn="l" marL="0" indent="0" lvl="0">
              <a:lnSpc>
                <a:spcPts val="5595"/>
              </a:lnSpc>
            </a:pPr>
            <a:r>
              <a:rPr lang="en-US" sz="4114" i="true" spc="-10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1,000 St</a:t>
            </a:r>
            <a:r>
              <a:rPr lang="en-US" sz="4114" i="true" spc="-10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udents</a:t>
            </a:r>
          </a:p>
          <a:p>
            <a:pPr algn="l" marL="0" indent="0" lvl="0">
              <a:lnSpc>
                <a:spcPts val="5595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2504102" y="6029084"/>
            <a:ext cx="4043023" cy="62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51"/>
              </a:lnSpc>
            </a:pP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Opp</a:t>
            </a:r>
            <a:r>
              <a:rPr lang="en-US" sz="3714" i="true" spc="-92">
                <a:solidFill>
                  <a:srgbClr val="FFFF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ortunity Radar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58086">
            <a:off x="12939512" y="-560398"/>
            <a:ext cx="10345502" cy="12171178"/>
          </a:xfrm>
          <a:custGeom>
            <a:avLst/>
            <a:gdLst/>
            <a:ahLst/>
            <a:cxnLst/>
            <a:rect r="r" b="b" t="t" l="l"/>
            <a:pathLst>
              <a:path h="12171178" w="10345502">
                <a:moveTo>
                  <a:pt x="0" y="0"/>
                </a:moveTo>
                <a:lnTo>
                  <a:pt x="10345502" y="0"/>
                </a:lnTo>
                <a:lnTo>
                  <a:pt x="10345502" y="12171178"/>
                </a:lnTo>
                <a:lnTo>
                  <a:pt x="0" y="121711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6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4897500"/>
            <a:ext cx="16635573" cy="291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328"/>
              </a:lnSpc>
            </a:pPr>
            <a:r>
              <a:rPr lang="en-US" b="true" sz="23698" spc="-1421">
                <a:gradFill>
                  <a:gsLst>
                    <a:gs pos="0">
                      <a:srgbClr val="08143A">
                        <a:alpha val="100000"/>
                      </a:srgbClr>
                    </a:gs>
                    <a:gs pos="33333">
                      <a:srgbClr val="08143A">
                        <a:alpha val="100000"/>
                      </a:srgbClr>
                    </a:gs>
                    <a:gs pos="66667">
                      <a:srgbClr val="44507C">
                        <a:alpha val="100000"/>
                      </a:srgbClr>
                    </a:gs>
                    <a:gs pos="100000">
                      <a:srgbClr val="656F92">
                        <a:alpha val="100000"/>
                      </a:srgbClr>
                    </a:gs>
                  </a:gsLst>
                  <a:lin ang="2700000"/>
                </a:gra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7892709"/>
            <a:ext cx="16230600" cy="0"/>
          </a:xfrm>
          <a:prstGeom prst="line">
            <a:avLst/>
          </a:prstGeom>
          <a:ln cap="rnd" w="19050">
            <a:solidFill>
              <a:srgbClr val="44507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DAHUw54Dfgk</dc:identifier>
  <dcterms:modified xsi:type="dcterms:W3CDTF">2011-08-01T06:04:30Z</dcterms:modified>
  <cp:revision>1</cp:revision>
  <dc:title>AI-Powered Solutions.</dc:title>
</cp:coreProperties>
</file>